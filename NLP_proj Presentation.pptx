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Norwester" charset="1" panose="00000506000000000000"/>
      <p:regular r:id="rId12"/>
    </p:embeddedFont>
    <p:embeddedFont>
      <p:font typeface="Montserrat Semi-Bold" charset="1" panose="00000700000000000000"/>
      <p:regular r:id="rId13"/>
    </p:embeddedFont>
    <p:embeddedFont>
      <p:font typeface="Poppins" charset="1" panose="00000500000000000000"/>
      <p:regular r:id="rId14"/>
    </p:embeddedFont>
    <p:embeddedFont>
      <p:font typeface="Poppins Bold" charset="1" panose="00000800000000000000"/>
      <p:regular r:id="rId15"/>
    </p:embeddedFont>
    <p:embeddedFont>
      <p:font typeface="Montserrat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7.png" Type="http://schemas.openxmlformats.org/officeDocument/2006/relationships/image"/><Relationship Id="rId16" Target="../media/image8.svg" Type="http://schemas.openxmlformats.org/officeDocument/2006/relationships/image"/><Relationship Id="rId17" Target="../media/image9.png" Type="http://schemas.openxmlformats.org/officeDocument/2006/relationships/image"/><Relationship Id="rId18" Target="../media/image10.svg" Type="http://schemas.openxmlformats.org/officeDocument/2006/relationships/image"/><Relationship Id="rId19" Target="../media/image11.png" Type="http://schemas.openxmlformats.org/officeDocument/2006/relationships/image"/><Relationship Id="rId2" Target="../media/image15.jpeg" Type="http://schemas.openxmlformats.org/officeDocument/2006/relationships/image"/><Relationship Id="rId20" Target="../media/image12.sv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32.png" Type="http://schemas.openxmlformats.org/officeDocument/2006/relationships/image"/><Relationship Id="rId14" Target="../media/image33.svg" Type="http://schemas.openxmlformats.org/officeDocument/2006/relationships/image"/><Relationship Id="rId15" Target="../media/image34.png" Type="http://schemas.openxmlformats.org/officeDocument/2006/relationships/image"/><Relationship Id="rId16" Target="../media/image35.svg" Type="http://schemas.openxmlformats.org/officeDocument/2006/relationships/image"/><Relationship Id="rId17" Target="../media/image36.png" Type="http://schemas.openxmlformats.org/officeDocument/2006/relationships/image"/><Relationship Id="rId18" Target="../media/image37.svg" Type="http://schemas.openxmlformats.org/officeDocument/2006/relationships/image"/><Relationship Id="rId19" Target="../media/image38.png" Type="http://schemas.openxmlformats.org/officeDocument/2006/relationships/image"/><Relationship Id="rId2" Target="../media/image15.jpeg" Type="http://schemas.openxmlformats.org/officeDocument/2006/relationships/image"/><Relationship Id="rId20" Target="../media/image39.svg" Type="http://schemas.openxmlformats.org/officeDocument/2006/relationships/image"/><Relationship Id="rId21" Target="../media/image22.png" Type="http://schemas.openxmlformats.org/officeDocument/2006/relationships/image"/><Relationship Id="rId22" Target="../media/image23.svg" Type="http://schemas.openxmlformats.org/officeDocument/2006/relationships/image"/><Relationship Id="rId23" Target="../media/image40.png" Type="http://schemas.openxmlformats.org/officeDocument/2006/relationships/image"/><Relationship Id="rId24" Target="../media/image41.svg" Type="http://schemas.openxmlformats.org/officeDocument/2006/relationships/image"/><Relationship Id="rId25" Target="../media/image42.png" Type="http://schemas.openxmlformats.org/officeDocument/2006/relationships/image"/><Relationship Id="rId26" Target="../media/image43.sv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46.png" Type="http://schemas.openxmlformats.org/officeDocument/2006/relationships/image"/><Relationship Id="rId12" Target="../media/image47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2" Target="../media/image15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2" Target="../media/image15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1967" y="2126834"/>
            <a:ext cx="5021239" cy="8488286"/>
          </a:xfrm>
          <a:custGeom>
            <a:avLst/>
            <a:gdLst/>
            <a:ahLst/>
            <a:cxnLst/>
            <a:rect r="r" b="b" t="t" l="l"/>
            <a:pathLst>
              <a:path h="8488286" w="5021239">
                <a:moveTo>
                  <a:pt x="0" y="0"/>
                </a:moveTo>
                <a:lnTo>
                  <a:pt x="5021239" y="0"/>
                </a:lnTo>
                <a:lnTo>
                  <a:pt x="5021239" y="8488286"/>
                </a:lnTo>
                <a:lnTo>
                  <a:pt x="0" y="8488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1967" y="-444755"/>
            <a:ext cx="5021239" cy="3046174"/>
          </a:xfrm>
          <a:custGeom>
            <a:avLst/>
            <a:gdLst/>
            <a:ahLst/>
            <a:cxnLst/>
            <a:rect r="r" b="b" t="t" l="l"/>
            <a:pathLst>
              <a:path h="3046174" w="5021239">
                <a:moveTo>
                  <a:pt x="0" y="0"/>
                </a:moveTo>
                <a:lnTo>
                  <a:pt x="5021239" y="0"/>
                </a:lnTo>
                <a:lnTo>
                  <a:pt x="5021239" y="3046174"/>
                </a:lnTo>
                <a:lnTo>
                  <a:pt x="0" y="3046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8654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27315" y="-34654"/>
            <a:ext cx="5728852" cy="10321654"/>
            <a:chOff x="0" y="0"/>
            <a:chExt cx="887549" cy="15990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7549" cy="1599094"/>
            </a:xfrm>
            <a:custGeom>
              <a:avLst/>
              <a:gdLst/>
              <a:ahLst/>
              <a:cxnLst/>
              <a:rect r="r" b="b" t="t" l="l"/>
              <a:pathLst>
                <a:path h="1599094" w="887549">
                  <a:moveTo>
                    <a:pt x="0" y="0"/>
                  </a:moveTo>
                  <a:lnTo>
                    <a:pt x="887549" y="0"/>
                  </a:lnTo>
                  <a:lnTo>
                    <a:pt x="887549" y="1599094"/>
                  </a:lnTo>
                  <a:lnTo>
                    <a:pt x="0" y="1599094"/>
                  </a:lnTo>
                  <a:close/>
                </a:path>
              </a:pathLst>
            </a:custGeom>
            <a:blipFill>
              <a:blip r:embed="rId3"/>
              <a:stretch>
                <a:fillRect l="0" t="0" r="-22069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056167" y="2250659"/>
            <a:ext cx="10400053" cy="316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5"/>
              </a:lnSpc>
            </a:pPr>
            <a:r>
              <a:rPr lang="en-US" sz="23795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MEDSUM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94426" y="4959820"/>
            <a:ext cx="2788286" cy="85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47118" y="6428127"/>
            <a:ext cx="8110553" cy="88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3400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LM-p</a:t>
            </a:r>
            <a:r>
              <a:rPr lang="en-US" sz="3400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owered summarization of medical records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973569" y="2762666"/>
            <a:ext cx="7501185" cy="7845815"/>
          </a:xfrm>
          <a:custGeom>
            <a:avLst/>
            <a:gdLst/>
            <a:ahLst/>
            <a:cxnLst/>
            <a:rect r="r" b="b" t="t" l="l"/>
            <a:pathLst>
              <a:path h="7845815" w="7501185">
                <a:moveTo>
                  <a:pt x="0" y="0"/>
                </a:moveTo>
                <a:lnTo>
                  <a:pt x="7501185" y="0"/>
                </a:lnTo>
                <a:lnTo>
                  <a:pt x="7501185" y="7845815"/>
                </a:lnTo>
                <a:lnTo>
                  <a:pt x="0" y="7845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190625" y="1802984"/>
            <a:ext cx="2381250" cy="1017288"/>
            <a:chOff x="0" y="0"/>
            <a:chExt cx="627160" cy="267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190625" y="3001248"/>
            <a:ext cx="2381250" cy="1017288"/>
            <a:chOff x="0" y="0"/>
            <a:chExt cx="627160" cy="2679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190625" y="4199511"/>
            <a:ext cx="2381250" cy="1017288"/>
            <a:chOff x="0" y="0"/>
            <a:chExt cx="627160" cy="2679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-1190625" y="5397774"/>
            <a:ext cx="2381250" cy="1017288"/>
            <a:chOff x="0" y="0"/>
            <a:chExt cx="627160" cy="2679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-1190625" y="6596038"/>
            <a:ext cx="2381250" cy="1017288"/>
            <a:chOff x="0" y="0"/>
            <a:chExt cx="627160" cy="2679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58769" y="3166826"/>
            <a:ext cx="629379" cy="699310"/>
          </a:xfrm>
          <a:custGeom>
            <a:avLst/>
            <a:gdLst/>
            <a:ahLst/>
            <a:cxnLst/>
            <a:rect r="r" b="b" t="t" l="l"/>
            <a:pathLst>
              <a:path h="699310" w="629379">
                <a:moveTo>
                  <a:pt x="0" y="0"/>
                </a:moveTo>
                <a:lnTo>
                  <a:pt x="629379" y="0"/>
                </a:lnTo>
                <a:lnTo>
                  <a:pt x="629379" y="699310"/>
                </a:lnTo>
                <a:lnTo>
                  <a:pt x="0" y="6993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58769" y="4418586"/>
            <a:ext cx="683612" cy="701467"/>
          </a:xfrm>
          <a:custGeom>
            <a:avLst/>
            <a:gdLst/>
            <a:ahLst/>
            <a:cxnLst/>
            <a:rect r="r" b="b" t="t" l="l"/>
            <a:pathLst>
              <a:path h="701467" w="683612">
                <a:moveTo>
                  <a:pt x="0" y="0"/>
                </a:moveTo>
                <a:lnTo>
                  <a:pt x="683612" y="0"/>
                </a:lnTo>
                <a:lnTo>
                  <a:pt x="683612" y="701467"/>
                </a:lnTo>
                <a:lnTo>
                  <a:pt x="0" y="7014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29162" y="5621551"/>
            <a:ext cx="646600" cy="612942"/>
          </a:xfrm>
          <a:custGeom>
            <a:avLst/>
            <a:gdLst/>
            <a:ahLst/>
            <a:cxnLst/>
            <a:rect r="r" b="b" t="t" l="l"/>
            <a:pathLst>
              <a:path h="612942" w="646600">
                <a:moveTo>
                  <a:pt x="0" y="0"/>
                </a:moveTo>
                <a:lnTo>
                  <a:pt x="646601" y="0"/>
                </a:lnTo>
                <a:lnTo>
                  <a:pt x="646601" y="612942"/>
                </a:lnTo>
                <a:lnTo>
                  <a:pt x="0" y="6129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58769" y="6700423"/>
            <a:ext cx="752475" cy="752475"/>
          </a:xfrm>
          <a:custGeom>
            <a:avLst/>
            <a:gdLst/>
            <a:ahLst/>
            <a:cxnLst/>
            <a:rect r="r" b="b" t="t" l="l"/>
            <a:pathLst>
              <a:path h="752475" w="752475">
                <a:moveTo>
                  <a:pt x="0" y="0"/>
                </a:moveTo>
                <a:lnTo>
                  <a:pt x="752475" y="0"/>
                </a:lnTo>
                <a:lnTo>
                  <a:pt x="75247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83629" y="1967306"/>
            <a:ext cx="633892" cy="633892"/>
          </a:xfrm>
          <a:custGeom>
            <a:avLst/>
            <a:gdLst/>
            <a:ahLst/>
            <a:cxnLst/>
            <a:rect r="r" b="b" t="t" l="l"/>
            <a:pathLst>
              <a:path h="633892" w="633892">
                <a:moveTo>
                  <a:pt x="0" y="0"/>
                </a:moveTo>
                <a:lnTo>
                  <a:pt x="633892" y="0"/>
                </a:lnTo>
                <a:lnTo>
                  <a:pt x="633892" y="633892"/>
                </a:lnTo>
                <a:lnTo>
                  <a:pt x="0" y="6338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196232" y="1860134"/>
            <a:ext cx="5673093" cy="38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8"/>
              </a:lnSpc>
              <a:spcBef>
                <a:spcPct val="0"/>
              </a:spcBef>
            </a:pPr>
            <a:r>
              <a:rPr lang="en-US" sz="2213" spc="-4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epared 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by: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la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 Est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 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ome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 A</a:t>
            </a:r>
            <a:r>
              <a:rPr lang="en-US" sz="2213" spc="-44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03" r="0" b="-37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46594" y="1547404"/>
            <a:ext cx="3228547" cy="1331140"/>
            <a:chOff x="0" y="0"/>
            <a:chExt cx="795213" cy="3278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5213" cy="327869"/>
            </a:xfrm>
            <a:custGeom>
              <a:avLst/>
              <a:gdLst/>
              <a:ahLst/>
              <a:cxnLst/>
              <a:rect r="r" b="b" t="t" l="l"/>
              <a:pathLst>
                <a:path h="327869" w="795213">
                  <a:moveTo>
                    <a:pt x="163934" y="0"/>
                  </a:moveTo>
                  <a:lnTo>
                    <a:pt x="631279" y="0"/>
                  </a:lnTo>
                  <a:cubicBezTo>
                    <a:pt x="674757" y="0"/>
                    <a:pt x="716454" y="17272"/>
                    <a:pt x="747198" y="48015"/>
                  </a:cubicBezTo>
                  <a:cubicBezTo>
                    <a:pt x="777942" y="78759"/>
                    <a:pt x="795213" y="120456"/>
                    <a:pt x="795213" y="163934"/>
                  </a:cubicBezTo>
                  <a:lnTo>
                    <a:pt x="795213" y="163934"/>
                  </a:lnTo>
                  <a:cubicBezTo>
                    <a:pt x="795213" y="254473"/>
                    <a:pt x="721817" y="327869"/>
                    <a:pt x="631279" y="327869"/>
                  </a:cubicBezTo>
                  <a:lnTo>
                    <a:pt x="163934" y="327869"/>
                  </a:lnTo>
                  <a:cubicBezTo>
                    <a:pt x="73396" y="327869"/>
                    <a:pt x="0" y="254473"/>
                    <a:pt x="0" y="163934"/>
                  </a:cubicBezTo>
                  <a:lnTo>
                    <a:pt x="0" y="163934"/>
                  </a:lnTo>
                  <a:cubicBezTo>
                    <a:pt x="0" y="73396"/>
                    <a:pt x="73396" y="0"/>
                    <a:pt x="16393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795213" cy="35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46594" y="3064208"/>
            <a:ext cx="2381250" cy="1017288"/>
            <a:chOff x="0" y="0"/>
            <a:chExt cx="627160" cy="2679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846594" y="4262471"/>
            <a:ext cx="2381250" cy="1017288"/>
            <a:chOff x="0" y="0"/>
            <a:chExt cx="627160" cy="2679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846594" y="5460735"/>
            <a:ext cx="2381250" cy="1017288"/>
            <a:chOff x="0" y="0"/>
            <a:chExt cx="627160" cy="267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846594" y="6658998"/>
            <a:ext cx="2381250" cy="1017288"/>
            <a:chOff x="0" y="0"/>
            <a:chExt cx="627160" cy="267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967940" y="554438"/>
            <a:ext cx="1062290" cy="1387966"/>
          </a:xfrm>
          <a:custGeom>
            <a:avLst/>
            <a:gdLst/>
            <a:ahLst/>
            <a:cxnLst/>
            <a:rect r="r" b="b" t="t" l="l"/>
            <a:pathLst>
              <a:path h="1387966" w="1062290">
                <a:moveTo>
                  <a:pt x="0" y="0"/>
                </a:moveTo>
                <a:lnTo>
                  <a:pt x="1062290" y="0"/>
                </a:lnTo>
                <a:lnTo>
                  <a:pt x="1062290" y="1387966"/>
                </a:lnTo>
                <a:lnTo>
                  <a:pt x="0" y="1387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652103" y="942279"/>
            <a:ext cx="686949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U</a:t>
            </a: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SE CASE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67680" y="1765961"/>
            <a:ext cx="913075" cy="913075"/>
          </a:xfrm>
          <a:custGeom>
            <a:avLst/>
            <a:gdLst/>
            <a:ahLst/>
            <a:cxnLst/>
            <a:rect r="r" b="b" t="t" l="l"/>
            <a:pathLst>
              <a:path h="913075" w="913075">
                <a:moveTo>
                  <a:pt x="0" y="0"/>
                </a:moveTo>
                <a:lnTo>
                  <a:pt x="913074" y="0"/>
                </a:lnTo>
                <a:lnTo>
                  <a:pt x="913074" y="913075"/>
                </a:lnTo>
                <a:lnTo>
                  <a:pt x="0" y="9130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52990" y="3223197"/>
            <a:ext cx="629379" cy="699310"/>
          </a:xfrm>
          <a:custGeom>
            <a:avLst/>
            <a:gdLst/>
            <a:ahLst/>
            <a:cxnLst/>
            <a:rect r="r" b="b" t="t" l="l"/>
            <a:pathLst>
              <a:path h="699310" w="629379">
                <a:moveTo>
                  <a:pt x="0" y="0"/>
                </a:moveTo>
                <a:lnTo>
                  <a:pt x="629379" y="0"/>
                </a:lnTo>
                <a:lnTo>
                  <a:pt x="629379" y="699310"/>
                </a:lnTo>
                <a:lnTo>
                  <a:pt x="0" y="6993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52990" y="4424396"/>
            <a:ext cx="683612" cy="701467"/>
          </a:xfrm>
          <a:custGeom>
            <a:avLst/>
            <a:gdLst/>
            <a:ahLst/>
            <a:cxnLst/>
            <a:rect r="r" b="b" t="t" l="l"/>
            <a:pathLst>
              <a:path h="701467" w="683612">
                <a:moveTo>
                  <a:pt x="0" y="0"/>
                </a:moveTo>
                <a:lnTo>
                  <a:pt x="683612" y="0"/>
                </a:lnTo>
                <a:lnTo>
                  <a:pt x="683612" y="701468"/>
                </a:lnTo>
                <a:lnTo>
                  <a:pt x="0" y="7014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77617" y="5660760"/>
            <a:ext cx="646600" cy="612942"/>
          </a:xfrm>
          <a:custGeom>
            <a:avLst/>
            <a:gdLst/>
            <a:ahLst/>
            <a:cxnLst/>
            <a:rect r="r" b="b" t="t" l="l"/>
            <a:pathLst>
              <a:path h="612942" w="646600">
                <a:moveTo>
                  <a:pt x="0" y="0"/>
                </a:moveTo>
                <a:lnTo>
                  <a:pt x="646600" y="0"/>
                </a:lnTo>
                <a:lnTo>
                  <a:pt x="646600" y="612941"/>
                </a:lnTo>
                <a:lnTo>
                  <a:pt x="0" y="6129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24679" y="6791405"/>
            <a:ext cx="752475" cy="752475"/>
          </a:xfrm>
          <a:custGeom>
            <a:avLst/>
            <a:gdLst/>
            <a:ahLst/>
            <a:cxnLst/>
            <a:rect r="r" b="b" t="t" l="l"/>
            <a:pathLst>
              <a:path h="752475" w="752475">
                <a:moveTo>
                  <a:pt x="0" y="0"/>
                </a:moveTo>
                <a:lnTo>
                  <a:pt x="752475" y="0"/>
                </a:lnTo>
                <a:lnTo>
                  <a:pt x="75247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099883" y="2495473"/>
            <a:ext cx="343376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BACKGR</a:t>
            </a:r>
            <a:r>
              <a:rPr lang="en-US" sz="5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O</a:t>
            </a:r>
            <a:r>
              <a:rPr lang="en-US" sz="5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UND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62686" y="2165349"/>
            <a:ext cx="9356790" cy="111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tient in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fo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ation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is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scattered across clinic visits, messages,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lab/imaging reports, ER notes, and both digital and handwritten documents in varying formats.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99883" y="3696677"/>
            <a:ext cx="775223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WHY THIS PROBLEM MATTERS?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99883" y="4299606"/>
            <a:ext cx="13219593" cy="111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eavy fragm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ation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make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 it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 f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clinici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to qu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ckly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und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nd th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 pa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t’s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cou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. When doct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ors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are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d, ru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hed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or u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focuse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th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risk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of m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ssin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 cr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ic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al 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fo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ma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io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nf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usi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 cl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ical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err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s incre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99883" y="5777800"/>
            <a:ext cx="650721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WHY IT’S CHALLENGING 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099883" y="6380728"/>
            <a:ext cx="13219593" cy="7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Clinic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al te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 c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ome from multiple sources,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wi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iffer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nt lengt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tyl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es,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lev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o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 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tructure,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 inconsis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ter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nology -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som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 d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igital, som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sc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nned, so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ndwri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099883" y="7536276"/>
            <a:ext cx="632046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HOW IT’S SOLVED TODAY?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099883" y="8139205"/>
            <a:ext cx="10713981" cy="7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Clinici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ans manually read through many documents, digital and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w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ritten, in a sl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ow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 overloaded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rocess tha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does not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guara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ntee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ification of 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ll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im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port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ant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ev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ents.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03" r="0" b="-37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46594" y="4589185"/>
            <a:ext cx="2381250" cy="1017288"/>
            <a:chOff x="0" y="0"/>
            <a:chExt cx="627160" cy="2679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46594" y="5787448"/>
            <a:ext cx="2381250" cy="1017288"/>
            <a:chOff x="0" y="0"/>
            <a:chExt cx="627160" cy="2679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846594" y="6985711"/>
            <a:ext cx="2381250" cy="1017288"/>
            <a:chOff x="0" y="0"/>
            <a:chExt cx="627160" cy="2679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955533" y="3073057"/>
            <a:ext cx="3228547" cy="1331140"/>
            <a:chOff x="0" y="0"/>
            <a:chExt cx="795213" cy="3278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5213" cy="327869"/>
            </a:xfrm>
            <a:custGeom>
              <a:avLst/>
              <a:gdLst/>
              <a:ahLst/>
              <a:cxnLst/>
              <a:rect r="r" b="b" t="t" l="l"/>
              <a:pathLst>
                <a:path h="327869" w="795213">
                  <a:moveTo>
                    <a:pt x="163934" y="0"/>
                  </a:moveTo>
                  <a:lnTo>
                    <a:pt x="631279" y="0"/>
                  </a:lnTo>
                  <a:cubicBezTo>
                    <a:pt x="674757" y="0"/>
                    <a:pt x="716454" y="17272"/>
                    <a:pt x="747198" y="48015"/>
                  </a:cubicBezTo>
                  <a:cubicBezTo>
                    <a:pt x="777942" y="78759"/>
                    <a:pt x="795213" y="120456"/>
                    <a:pt x="795213" y="163934"/>
                  </a:cubicBezTo>
                  <a:lnTo>
                    <a:pt x="795213" y="163934"/>
                  </a:lnTo>
                  <a:cubicBezTo>
                    <a:pt x="795213" y="254473"/>
                    <a:pt x="721817" y="327869"/>
                    <a:pt x="631279" y="327869"/>
                  </a:cubicBezTo>
                  <a:lnTo>
                    <a:pt x="163934" y="327869"/>
                  </a:lnTo>
                  <a:cubicBezTo>
                    <a:pt x="73396" y="327869"/>
                    <a:pt x="0" y="254473"/>
                    <a:pt x="0" y="163934"/>
                  </a:cubicBezTo>
                  <a:lnTo>
                    <a:pt x="0" y="163934"/>
                  </a:lnTo>
                  <a:cubicBezTo>
                    <a:pt x="0" y="73396"/>
                    <a:pt x="73396" y="0"/>
                    <a:pt x="16393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95213" cy="35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30001" y="3235832"/>
            <a:ext cx="909250" cy="1010278"/>
          </a:xfrm>
          <a:custGeom>
            <a:avLst/>
            <a:gdLst/>
            <a:ahLst/>
            <a:cxnLst/>
            <a:rect r="r" b="b" t="t" l="l"/>
            <a:pathLst>
              <a:path h="1010278" w="909250">
                <a:moveTo>
                  <a:pt x="0" y="0"/>
                </a:moveTo>
                <a:lnTo>
                  <a:pt x="909250" y="0"/>
                </a:lnTo>
                <a:lnTo>
                  <a:pt x="909250" y="1010278"/>
                </a:lnTo>
                <a:lnTo>
                  <a:pt x="0" y="10102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5400000">
            <a:off x="10514937" y="7038260"/>
            <a:ext cx="569290" cy="388258"/>
            <a:chOff x="0" y="0"/>
            <a:chExt cx="2771140" cy="18899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F1F2F2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5939253" y="6402729"/>
            <a:ext cx="1648558" cy="1270888"/>
          </a:xfrm>
          <a:custGeom>
            <a:avLst/>
            <a:gdLst/>
            <a:ahLst/>
            <a:cxnLst/>
            <a:rect r="r" b="b" t="t" l="l"/>
            <a:pathLst>
              <a:path h="1270888" w="1648558">
                <a:moveTo>
                  <a:pt x="0" y="0"/>
                </a:moveTo>
                <a:lnTo>
                  <a:pt x="1648558" y="0"/>
                </a:lnTo>
                <a:lnTo>
                  <a:pt x="1648558" y="1270888"/>
                </a:lnTo>
                <a:lnTo>
                  <a:pt x="0" y="12708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522052" y="6169709"/>
            <a:ext cx="1736926" cy="1736926"/>
          </a:xfrm>
          <a:custGeom>
            <a:avLst/>
            <a:gdLst/>
            <a:ahLst/>
            <a:cxnLst/>
            <a:rect r="r" b="b" t="t" l="l"/>
            <a:pathLst>
              <a:path h="1736926" w="1736926">
                <a:moveTo>
                  <a:pt x="0" y="0"/>
                </a:moveTo>
                <a:lnTo>
                  <a:pt x="1736926" y="0"/>
                </a:lnTo>
                <a:lnTo>
                  <a:pt x="1736926" y="1736927"/>
                </a:lnTo>
                <a:lnTo>
                  <a:pt x="0" y="17369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-5400000">
            <a:off x="7770286" y="7038260"/>
            <a:ext cx="569290" cy="388258"/>
            <a:chOff x="0" y="0"/>
            <a:chExt cx="2771140" cy="18899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F1F2F2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1340185" y="6169709"/>
            <a:ext cx="1250604" cy="1629934"/>
          </a:xfrm>
          <a:custGeom>
            <a:avLst/>
            <a:gdLst/>
            <a:ahLst/>
            <a:cxnLst/>
            <a:rect r="r" b="b" t="t" l="l"/>
            <a:pathLst>
              <a:path h="1629934" w="1250604">
                <a:moveTo>
                  <a:pt x="0" y="0"/>
                </a:moveTo>
                <a:lnTo>
                  <a:pt x="1250604" y="0"/>
                </a:lnTo>
                <a:lnTo>
                  <a:pt x="1250604" y="1629934"/>
                </a:lnTo>
                <a:lnTo>
                  <a:pt x="0" y="16299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-846594" y="1800631"/>
            <a:ext cx="2381250" cy="1087437"/>
            <a:chOff x="0" y="0"/>
            <a:chExt cx="586518" cy="2678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6518" cy="267843"/>
            </a:xfrm>
            <a:custGeom>
              <a:avLst/>
              <a:gdLst/>
              <a:ahLst/>
              <a:cxnLst/>
              <a:rect r="r" b="b" t="t" l="l"/>
              <a:pathLst>
                <a:path h="267843" w="586518">
                  <a:moveTo>
                    <a:pt x="133922" y="0"/>
                  </a:moveTo>
                  <a:lnTo>
                    <a:pt x="452597" y="0"/>
                  </a:lnTo>
                  <a:cubicBezTo>
                    <a:pt x="526559" y="0"/>
                    <a:pt x="586518" y="59959"/>
                    <a:pt x="586518" y="133922"/>
                  </a:cubicBezTo>
                  <a:lnTo>
                    <a:pt x="586518" y="133922"/>
                  </a:lnTo>
                  <a:cubicBezTo>
                    <a:pt x="586518" y="207885"/>
                    <a:pt x="526559" y="267843"/>
                    <a:pt x="452597" y="267843"/>
                  </a:cubicBezTo>
                  <a:lnTo>
                    <a:pt x="133922" y="267843"/>
                  </a:lnTo>
                  <a:cubicBezTo>
                    <a:pt x="59959" y="267843"/>
                    <a:pt x="0" y="207885"/>
                    <a:pt x="0" y="133922"/>
                  </a:cubicBezTo>
                  <a:lnTo>
                    <a:pt x="0" y="133922"/>
                  </a:lnTo>
                  <a:cubicBezTo>
                    <a:pt x="0" y="59959"/>
                    <a:pt x="59959" y="0"/>
                    <a:pt x="133922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86518" cy="296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50734" y="2027404"/>
            <a:ext cx="633892" cy="633892"/>
          </a:xfrm>
          <a:custGeom>
            <a:avLst/>
            <a:gdLst/>
            <a:ahLst/>
            <a:cxnLst/>
            <a:rect r="r" b="b" t="t" l="l"/>
            <a:pathLst>
              <a:path h="633892" w="633892">
                <a:moveTo>
                  <a:pt x="0" y="0"/>
                </a:moveTo>
                <a:lnTo>
                  <a:pt x="633892" y="0"/>
                </a:lnTo>
                <a:lnTo>
                  <a:pt x="633892" y="633892"/>
                </a:lnTo>
                <a:lnTo>
                  <a:pt x="0" y="633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1239467">
            <a:off x="12830895" y="6104499"/>
            <a:ext cx="1434621" cy="845122"/>
          </a:xfrm>
          <a:custGeom>
            <a:avLst/>
            <a:gdLst/>
            <a:ahLst/>
            <a:cxnLst/>
            <a:rect r="r" b="b" t="t" l="l"/>
            <a:pathLst>
              <a:path h="845122" w="1434621">
                <a:moveTo>
                  <a:pt x="0" y="0"/>
                </a:moveTo>
                <a:lnTo>
                  <a:pt x="1434622" y="0"/>
                </a:lnTo>
                <a:lnTo>
                  <a:pt x="1434622" y="845122"/>
                </a:lnTo>
                <a:lnTo>
                  <a:pt x="0" y="8451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919530" y="814076"/>
            <a:ext cx="1044894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PROJ</a:t>
            </a: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ECT TASK DESCRIPTION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78366" y="1985478"/>
            <a:ext cx="313801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PROBLEM STATEMENT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86211" y="7868536"/>
            <a:ext cx="1204578" cy="28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sz="1637" spc="-3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Summa</a:t>
            </a:r>
            <a:r>
              <a:rPr lang="en-US" sz="1637" spc="-3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1637" spc="-3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1637" spc="-3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31368" y="5801828"/>
            <a:ext cx="1518293" cy="28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sz="1637" spc="-3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MODEL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917909" y="7747250"/>
            <a:ext cx="1518293" cy="28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sz="1637" spc="-3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Medical</a:t>
            </a:r>
            <a:r>
              <a:rPr lang="en-US" sz="1637" spc="-3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forms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336430" y="2126841"/>
            <a:ext cx="9906761" cy="7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  <a:spcBef>
                <a:spcPct val="0"/>
              </a:spcBef>
            </a:pPr>
            <a:r>
              <a:rPr lang="en-US" sz="2130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Summarizing a patient’s longitudinal medical history from multiple cl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inical documents into one coherent, structured “patient journey” narrative.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18946" y="3528945"/>
            <a:ext cx="313801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INPUT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88500" y="3464849"/>
            <a:ext cx="313801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OUTPUT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847959" y="8774607"/>
            <a:ext cx="216842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NOVELTY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78366" y="4205220"/>
            <a:ext cx="6381760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Ordered set of patient-related clinical texts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{visit notes, doctor–pat</a:t>
            </a:r>
            <a:r>
              <a:rPr lang="en-US" sz="2000" spc="-40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ient messages, ER notes, lab/imaging reports}, all chronologically aligned on a single timeline.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49662" y="4205220"/>
            <a:ext cx="6422155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 concise 3–7 sentence longitudinal </a:t>
            </a:r>
            <a:r>
              <a:rPr lang="en-US" b="true" sz="2000" spc="-40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“patient journey” summary</a:t>
            </a:r>
            <a:r>
              <a:rPr lang="en-US" sz="200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covering diagnoses, treatm</a:t>
            </a:r>
            <a:r>
              <a:rPr lang="en-US" sz="2000" spc="-40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ents, key clinical events, timeline progression, and current health status.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5109716">
            <a:off x="4211618" y="6104499"/>
            <a:ext cx="1434621" cy="845122"/>
          </a:xfrm>
          <a:custGeom>
            <a:avLst/>
            <a:gdLst/>
            <a:ahLst/>
            <a:cxnLst/>
            <a:rect r="r" b="b" t="t" l="l"/>
            <a:pathLst>
              <a:path h="845122" w="1434621">
                <a:moveTo>
                  <a:pt x="0" y="0"/>
                </a:moveTo>
                <a:lnTo>
                  <a:pt x="1434622" y="0"/>
                </a:lnTo>
                <a:lnTo>
                  <a:pt x="1434622" y="845122"/>
                </a:lnTo>
                <a:lnTo>
                  <a:pt x="0" y="8451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336430" y="8444483"/>
            <a:ext cx="8862007" cy="111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Multi-document longitudinal summarization </a:t>
            </a:r>
          </a:p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Extraction → Structuring → LLM Summary </a:t>
            </a:r>
          </a:p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Handling sensitive, inconsistent, multi-source clinical text formats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425874" y="4747095"/>
            <a:ext cx="683612" cy="701467"/>
          </a:xfrm>
          <a:custGeom>
            <a:avLst/>
            <a:gdLst/>
            <a:ahLst/>
            <a:cxnLst/>
            <a:rect r="r" b="b" t="t" l="l"/>
            <a:pathLst>
              <a:path h="701467" w="683612">
                <a:moveTo>
                  <a:pt x="0" y="0"/>
                </a:moveTo>
                <a:lnTo>
                  <a:pt x="683612" y="0"/>
                </a:lnTo>
                <a:lnTo>
                  <a:pt x="683612" y="701467"/>
                </a:lnTo>
                <a:lnTo>
                  <a:pt x="0" y="70146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462885" y="6016048"/>
            <a:ext cx="646600" cy="612942"/>
          </a:xfrm>
          <a:custGeom>
            <a:avLst/>
            <a:gdLst/>
            <a:ahLst/>
            <a:cxnLst/>
            <a:rect r="r" b="b" t="t" l="l"/>
            <a:pathLst>
              <a:path h="612942" w="646600">
                <a:moveTo>
                  <a:pt x="0" y="0"/>
                </a:moveTo>
                <a:lnTo>
                  <a:pt x="646601" y="0"/>
                </a:lnTo>
                <a:lnTo>
                  <a:pt x="646601" y="612942"/>
                </a:lnTo>
                <a:lnTo>
                  <a:pt x="0" y="61294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462885" y="7140797"/>
            <a:ext cx="752475" cy="752475"/>
          </a:xfrm>
          <a:custGeom>
            <a:avLst/>
            <a:gdLst/>
            <a:ahLst/>
            <a:cxnLst/>
            <a:rect r="r" b="b" t="t" l="l"/>
            <a:pathLst>
              <a:path h="752475" w="752475">
                <a:moveTo>
                  <a:pt x="0" y="0"/>
                </a:moveTo>
                <a:lnTo>
                  <a:pt x="752475" y="0"/>
                </a:lnTo>
                <a:lnTo>
                  <a:pt x="75247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66" r="0" b="-3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46594" y="3064208"/>
            <a:ext cx="2381250" cy="980843"/>
            <a:chOff x="0" y="0"/>
            <a:chExt cx="627160" cy="2583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7161" cy="258329"/>
            </a:xfrm>
            <a:custGeom>
              <a:avLst/>
              <a:gdLst/>
              <a:ahLst/>
              <a:cxnLst/>
              <a:rect r="r" b="b" t="t" l="l"/>
              <a:pathLst>
                <a:path h="258329" w="627161">
                  <a:moveTo>
                    <a:pt x="129165" y="0"/>
                  </a:moveTo>
                  <a:lnTo>
                    <a:pt x="497996" y="0"/>
                  </a:lnTo>
                  <a:cubicBezTo>
                    <a:pt x="569332" y="0"/>
                    <a:pt x="627161" y="57829"/>
                    <a:pt x="627161" y="129165"/>
                  </a:cubicBezTo>
                  <a:lnTo>
                    <a:pt x="627161" y="129165"/>
                  </a:lnTo>
                  <a:cubicBezTo>
                    <a:pt x="627161" y="163421"/>
                    <a:pt x="613552" y="196275"/>
                    <a:pt x="589329" y="220498"/>
                  </a:cubicBezTo>
                  <a:cubicBezTo>
                    <a:pt x="565106" y="244721"/>
                    <a:pt x="532253" y="258329"/>
                    <a:pt x="497996" y="258329"/>
                  </a:cubicBezTo>
                  <a:lnTo>
                    <a:pt x="129165" y="258329"/>
                  </a:lnTo>
                  <a:cubicBezTo>
                    <a:pt x="57829" y="258329"/>
                    <a:pt x="0" y="200500"/>
                    <a:pt x="0" y="129165"/>
                  </a:cubicBezTo>
                  <a:lnTo>
                    <a:pt x="0" y="129165"/>
                  </a:lnTo>
                  <a:cubicBezTo>
                    <a:pt x="0" y="57829"/>
                    <a:pt x="57829" y="0"/>
                    <a:pt x="129165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27160" cy="2869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46594" y="5725596"/>
            <a:ext cx="2381250" cy="1017288"/>
            <a:chOff x="0" y="0"/>
            <a:chExt cx="627160" cy="2679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846594" y="6923860"/>
            <a:ext cx="2381250" cy="1017288"/>
            <a:chOff x="0" y="0"/>
            <a:chExt cx="627160" cy="2679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50734" y="3186563"/>
            <a:ext cx="662521" cy="736134"/>
          </a:xfrm>
          <a:custGeom>
            <a:avLst/>
            <a:gdLst/>
            <a:ahLst/>
            <a:cxnLst/>
            <a:rect r="r" b="b" t="t" l="l"/>
            <a:pathLst>
              <a:path h="736134" w="662521">
                <a:moveTo>
                  <a:pt x="0" y="0"/>
                </a:moveTo>
                <a:lnTo>
                  <a:pt x="662520" y="0"/>
                </a:lnTo>
                <a:lnTo>
                  <a:pt x="662520" y="736134"/>
                </a:lnTo>
                <a:lnTo>
                  <a:pt x="0" y="736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-846594" y="1800631"/>
            <a:ext cx="2381250" cy="1087437"/>
            <a:chOff x="0" y="0"/>
            <a:chExt cx="586518" cy="2678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6518" cy="267843"/>
            </a:xfrm>
            <a:custGeom>
              <a:avLst/>
              <a:gdLst/>
              <a:ahLst/>
              <a:cxnLst/>
              <a:rect r="r" b="b" t="t" l="l"/>
              <a:pathLst>
                <a:path h="267843" w="586518">
                  <a:moveTo>
                    <a:pt x="133922" y="0"/>
                  </a:moveTo>
                  <a:lnTo>
                    <a:pt x="452597" y="0"/>
                  </a:lnTo>
                  <a:cubicBezTo>
                    <a:pt x="526559" y="0"/>
                    <a:pt x="586518" y="59959"/>
                    <a:pt x="586518" y="133922"/>
                  </a:cubicBezTo>
                  <a:lnTo>
                    <a:pt x="586518" y="133922"/>
                  </a:lnTo>
                  <a:cubicBezTo>
                    <a:pt x="586518" y="207885"/>
                    <a:pt x="526559" y="267843"/>
                    <a:pt x="452597" y="267843"/>
                  </a:cubicBezTo>
                  <a:lnTo>
                    <a:pt x="133922" y="267843"/>
                  </a:lnTo>
                  <a:cubicBezTo>
                    <a:pt x="59959" y="267843"/>
                    <a:pt x="0" y="207885"/>
                    <a:pt x="0" y="133922"/>
                  </a:cubicBezTo>
                  <a:lnTo>
                    <a:pt x="0" y="133922"/>
                  </a:lnTo>
                  <a:cubicBezTo>
                    <a:pt x="0" y="59959"/>
                    <a:pt x="59959" y="0"/>
                    <a:pt x="133922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86518" cy="296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50734" y="2027404"/>
            <a:ext cx="633892" cy="633892"/>
          </a:xfrm>
          <a:custGeom>
            <a:avLst/>
            <a:gdLst/>
            <a:ahLst/>
            <a:cxnLst/>
            <a:rect r="r" b="b" t="t" l="l"/>
            <a:pathLst>
              <a:path h="633892" w="633892">
                <a:moveTo>
                  <a:pt x="0" y="0"/>
                </a:moveTo>
                <a:lnTo>
                  <a:pt x="633892" y="0"/>
                </a:lnTo>
                <a:lnTo>
                  <a:pt x="633892" y="633892"/>
                </a:lnTo>
                <a:lnTo>
                  <a:pt x="0" y="633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955533" y="4216501"/>
            <a:ext cx="3228547" cy="1331140"/>
            <a:chOff x="0" y="0"/>
            <a:chExt cx="795213" cy="3278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5213" cy="327869"/>
            </a:xfrm>
            <a:custGeom>
              <a:avLst/>
              <a:gdLst/>
              <a:ahLst/>
              <a:cxnLst/>
              <a:rect r="r" b="b" t="t" l="l"/>
              <a:pathLst>
                <a:path h="327869" w="795213">
                  <a:moveTo>
                    <a:pt x="163934" y="0"/>
                  </a:moveTo>
                  <a:lnTo>
                    <a:pt x="631279" y="0"/>
                  </a:lnTo>
                  <a:cubicBezTo>
                    <a:pt x="674757" y="0"/>
                    <a:pt x="716454" y="17272"/>
                    <a:pt x="747198" y="48015"/>
                  </a:cubicBezTo>
                  <a:cubicBezTo>
                    <a:pt x="777942" y="78759"/>
                    <a:pt x="795213" y="120456"/>
                    <a:pt x="795213" y="163934"/>
                  </a:cubicBezTo>
                  <a:lnTo>
                    <a:pt x="795213" y="163934"/>
                  </a:lnTo>
                  <a:cubicBezTo>
                    <a:pt x="795213" y="254473"/>
                    <a:pt x="721817" y="327869"/>
                    <a:pt x="631279" y="327869"/>
                  </a:cubicBezTo>
                  <a:lnTo>
                    <a:pt x="163934" y="327869"/>
                  </a:lnTo>
                  <a:cubicBezTo>
                    <a:pt x="73396" y="327869"/>
                    <a:pt x="0" y="254473"/>
                    <a:pt x="0" y="163934"/>
                  </a:cubicBezTo>
                  <a:lnTo>
                    <a:pt x="0" y="163934"/>
                  </a:lnTo>
                  <a:cubicBezTo>
                    <a:pt x="0" y="73396"/>
                    <a:pt x="73396" y="0"/>
                    <a:pt x="16393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795213" cy="35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67680" y="4442033"/>
            <a:ext cx="934542" cy="958951"/>
          </a:xfrm>
          <a:custGeom>
            <a:avLst/>
            <a:gdLst/>
            <a:ahLst/>
            <a:cxnLst/>
            <a:rect r="r" b="b" t="t" l="l"/>
            <a:pathLst>
              <a:path h="958951" w="934542">
                <a:moveTo>
                  <a:pt x="0" y="0"/>
                </a:moveTo>
                <a:lnTo>
                  <a:pt x="934541" y="0"/>
                </a:lnTo>
                <a:lnTo>
                  <a:pt x="934541" y="958951"/>
                </a:lnTo>
                <a:lnTo>
                  <a:pt x="0" y="9589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66654" y="5980274"/>
            <a:ext cx="646600" cy="612942"/>
          </a:xfrm>
          <a:custGeom>
            <a:avLst/>
            <a:gdLst/>
            <a:ahLst/>
            <a:cxnLst/>
            <a:rect r="r" b="b" t="t" l="l"/>
            <a:pathLst>
              <a:path h="612942" w="646600">
                <a:moveTo>
                  <a:pt x="0" y="0"/>
                </a:moveTo>
                <a:lnTo>
                  <a:pt x="646600" y="0"/>
                </a:lnTo>
                <a:lnTo>
                  <a:pt x="646600" y="612941"/>
                </a:lnTo>
                <a:lnTo>
                  <a:pt x="0" y="6129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66654" y="7066735"/>
            <a:ext cx="752475" cy="752475"/>
          </a:xfrm>
          <a:custGeom>
            <a:avLst/>
            <a:gdLst/>
            <a:ahLst/>
            <a:cxnLst/>
            <a:rect r="r" b="b" t="t" l="l"/>
            <a:pathLst>
              <a:path h="752475" w="752475">
                <a:moveTo>
                  <a:pt x="0" y="0"/>
                </a:moveTo>
                <a:lnTo>
                  <a:pt x="752475" y="0"/>
                </a:lnTo>
                <a:lnTo>
                  <a:pt x="75247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-5400000">
            <a:off x="15501115" y="7558314"/>
            <a:ext cx="792677" cy="2576162"/>
            <a:chOff x="0" y="0"/>
            <a:chExt cx="2771140" cy="90060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71140" cy="9006071"/>
            </a:xfrm>
            <a:custGeom>
              <a:avLst/>
              <a:gdLst/>
              <a:ahLst/>
              <a:cxnLst/>
              <a:rect r="r" b="b" t="t" l="l"/>
              <a:pathLst>
                <a:path h="9006071" w="2771140">
                  <a:moveTo>
                    <a:pt x="0" y="0"/>
                  </a:moveTo>
                  <a:lnTo>
                    <a:pt x="0" y="8103102"/>
                  </a:lnTo>
                  <a:lnTo>
                    <a:pt x="1384300" y="9006071"/>
                  </a:lnTo>
                  <a:lnTo>
                    <a:pt x="2771140" y="8103102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34A4D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-5400000">
            <a:off x="14353982" y="8567826"/>
            <a:ext cx="816911" cy="557137"/>
            <a:chOff x="0" y="0"/>
            <a:chExt cx="2771140" cy="18899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F1F2F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-5400000">
            <a:off x="13214398" y="7558314"/>
            <a:ext cx="792677" cy="2576162"/>
            <a:chOff x="0" y="0"/>
            <a:chExt cx="2771140" cy="90060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71140" cy="9006071"/>
            </a:xfrm>
            <a:custGeom>
              <a:avLst/>
              <a:gdLst/>
              <a:ahLst/>
              <a:cxnLst/>
              <a:rect r="r" b="b" t="t" l="l"/>
              <a:pathLst>
                <a:path h="9006071" w="2771140">
                  <a:moveTo>
                    <a:pt x="0" y="0"/>
                  </a:moveTo>
                  <a:lnTo>
                    <a:pt x="0" y="8103102"/>
                  </a:lnTo>
                  <a:lnTo>
                    <a:pt x="1384300" y="9006071"/>
                  </a:lnTo>
                  <a:lnTo>
                    <a:pt x="2771140" y="8103102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166AB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-5400000">
            <a:off x="12067264" y="8567826"/>
            <a:ext cx="816911" cy="557137"/>
            <a:chOff x="0" y="0"/>
            <a:chExt cx="2771140" cy="18899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F1F2F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-5400000">
            <a:off x="10934219" y="7558314"/>
            <a:ext cx="792677" cy="2576162"/>
            <a:chOff x="0" y="0"/>
            <a:chExt cx="2771140" cy="90060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71140" cy="9006071"/>
            </a:xfrm>
            <a:custGeom>
              <a:avLst/>
              <a:gdLst/>
              <a:ahLst/>
              <a:cxnLst/>
              <a:rect r="r" b="b" t="t" l="l"/>
              <a:pathLst>
                <a:path h="9006071" w="2771140">
                  <a:moveTo>
                    <a:pt x="0" y="0"/>
                  </a:moveTo>
                  <a:lnTo>
                    <a:pt x="0" y="8103102"/>
                  </a:lnTo>
                  <a:lnTo>
                    <a:pt x="1384300" y="9006071"/>
                  </a:lnTo>
                  <a:lnTo>
                    <a:pt x="2771140" y="8103102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021945"/>
            </a:solidFill>
          </p:spPr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-10800000">
            <a:off x="10875170" y="7713933"/>
            <a:ext cx="910775" cy="910775"/>
            <a:chOff x="0" y="0"/>
            <a:chExt cx="495300" cy="4953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38100" y="3810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021945"/>
            </a:solidFill>
          </p:spPr>
        </p:sp>
      </p:grpSp>
      <p:grpSp>
        <p:nvGrpSpPr>
          <p:cNvPr name="Group 36" id="36"/>
          <p:cNvGrpSpPr>
            <a:grpSpLocks noChangeAspect="true"/>
          </p:cNvGrpSpPr>
          <p:nvPr/>
        </p:nvGrpSpPr>
        <p:grpSpPr>
          <a:xfrm rot="-10800000">
            <a:off x="13155348" y="7713933"/>
            <a:ext cx="910775" cy="910775"/>
            <a:chOff x="0" y="0"/>
            <a:chExt cx="495300" cy="4953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38100" y="3810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166ABC"/>
            </a:solid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-10800000">
            <a:off x="15442066" y="7713933"/>
            <a:ext cx="910775" cy="910775"/>
            <a:chOff x="0" y="0"/>
            <a:chExt cx="495300" cy="4953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38100" y="3810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34A4DD"/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15613682" y="7858278"/>
            <a:ext cx="567543" cy="567543"/>
          </a:xfrm>
          <a:custGeom>
            <a:avLst/>
            <a:gdLst/>
            <a:ahLst/>
            <a:cxnLst/>
            <a:rect r="r" b="b" t="t" l="l"/>
            <a:pathLst>
              <a:path h="567543" w="567543">
                <a:moveTo>
                  <a:pt x="0" y="0"/>
                </a:moveTo>
                <a:lnTo>
                  <a:pt x="567543" y="0"/>
                </a:lnTo>
                <a:lnTo>
                  <a:pt x="567543" y="567544"/>
                </a:lnTo>
                <a:lnTo>
                  <a:pt x="0" y="5675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0335951" y="8690711"/>
            <a:ext cx="2139769" cy="48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b="true" sz="1407" spc="3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 SUMMARIZATION</a:t>
            </a:r>
          </a:p>
        </p:txBody>
      </p:sp>
      <p:grpSp>
        <p:nvGrpSpPr>
          <p:cNvPr name="Group 44" id="44"/>
          <p:cNvGrpSpPr/>
          <p:nvPr/>
        </p:nvGrpSpPr>
        <p:grpSpPr>
          <a:xfrm rot="-5400000">
            <a:off x="9790275" y="8555709"/>
            <a:ext cx="816911" cy="557137"/>
            <a:chOff x="0" y="0"/>
            <a:chExt cx="2771140" cy="188993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F1F2F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-5400000">
            <a:off x="8630253" y="7558314"/>
            <a:ext cx="792677" cy="2576162"/>
            <a:chOff x="0" y="0"/>
            <a:chExt cx="2771140" cy="90060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71140" cy="9006071"/>
            </a:xfrm>
            <a:custGeom>
              <a:avLst/>
              <a:gdLst/>
              <a:ahLst/>
              <a:cxnLst/>
              <a:rect r="r" b="b" t="t" l="l"/>
              <a:pathLst>
                <a:path h="9006071" w="2771140">
                  <a:moveTo>
                    <a:pt x="0" y="0"/>
                  </a:moveTo>
                  <a:lnTo>
                    <a:pt x="0" y="8103102"/>
                  </a:lnTo>
                  <a:lnTo>
                    <a:pt x="1384300" y="9006071"/>
                  </a:lnTo>
                  <a:lnTo>
                    <a:pt x="2771140" y="8103102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8A8E8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-5400000">
            <a:off x="7483119" y="8567826"/>
            <a:ext cx="816911" cy="557137"/>
            <a:chOff x="0" y="0"/>
            <a:chExt cx="2771140" cy="188993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F1F2F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-5400000">
            <a:off x="6329796" y="7558314"/>
            <a:ext cx="792677" cy="2576162"/>
            <a:chOff x="0" y="0"/>
            <a:chExt cx="2771140" cy="90060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71140" cy="9006071"/>
            </a:xfrm>
            <a:custGeom>
              <a:avLst/>
              <a:gdLst/>
              <a:ahLst/>
              <a:cxnLst/>
              <a:rect r="r" b="b" t="t" l="l"/>
              <a:pathLst>
                <a:path h="9006071" w="2771140">
                  <a:moveTo>
                    <a:pt x="0" y="0"/>
                  </a:moveTo>
                  <a:lnTo>
                    <a:pt x="0" y="8103102"/>
                  </a:lnTo>
                  <a:lnTo>
                    <a:pt x="1384300" y="9006071"/>
                  </a:lnTo>
                  <a:lnTo>
                    <a:pt x="2771140" y="8103102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34A4D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-5400000">
            <a:off x="5182662" y="8567826"/>
            <a:ext cx="816911" cy="557137"/>
            <a:chOff x="0" y="0"/>
            <a:chExt cx="2771140" cy="18899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F1F2F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-5400000">
            <a:off x="4043078" y="7558314"/>
            <a:ext cx="792677" cy="2576162"/>
            <a:chOff x="0" y="0"/>
            <a:chExt cx="2771140" cy="90060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771140" cy="9006071"/>
            </a:xfrm>
            <a:custGeom>
              <a:avLst/>
              <a:gdLst/>
              <a:ahLst/>
              <a:cxnLst/>
              <a:rect r="r" b="b" t="t" l="l"/>
              <a:pathLst>
                <a:path h="9006071" w="2771140">
                  <a:moveTo>
                    <a:pt x="0" y="0"/>
                  </a:moveTo>
                  <a:lnTo>
                    <a:pt x="0" y="8103102"/>
                  </a:lnTo>
                  <a:lnTo>
                    <a:pt x="1384300" y="9006071"/>
                  </a:lnTo>
                  <a:lnTo>
                    <a:pt x="2771140" y="8103102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166AB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-5400000">
            <a:off x="2895945" y="8567826"/>
            <a:ext cx="816911" cy="557137"/>
            <a:chOff x="0" y="0"/>
            <a:chExt cx="2771140" cy="188993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F1F2F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-5400000">
            <a:off x="1762899" y="7553561"/>
            <a:ext cx="792677" cy="2576162"/>
            <a:chOff x="0" y="0"/>
            <a:chExt cx="2771140" cy="90060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771140" cy="9006071"/>
            </a:xfrm>
            <a:custGeom>
              <a:avLst/>
              <a:gdLst/>
              <a:ahLst/>
              <a:cxnLst/>
              <a:rect r="r" b="b" t="t" l="l"/>
              <a:pathLst>
                <a:path h="9006071" w="2771140">
                  <a:moveTo>
                    <a:pt x="0" y="0"/>
                  </a:moveTo>
                  <a:lnTo>
                    <a:pt x="0" y="8103102"/>
                  </a:lnTo>
                  <a:lnTo>
                    <a:pt x="1384300" y="9006071"/>
                  </a:lnTo>
                  <a:lnTo>
                    <a:pt x="2771140" y="8103102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021945"/>
            </a:solidFill>
          </p:spPr>
        </p:sp>
      </p:grpSp>
      <p:grpSp>
        <p:nvGrpSpPr>
          <p:cNvPr name="Group 60" id="60"/>
          <p:cNvGrpSpPr>
            <a:grpSpLocks noChangeAspect="true"/>
          </p:cNvGrpSpPr>
          <p:nvPr/>
        </p:nvGrpSpPr>
        <p:grpSpPr>
          <a:xfrm rot="-10800000">
            <a:off x="1703850" y="7713933"/>
            <a:ext cx="910775" cy="910775"/>
            <a:chOff x="0" y="0"/>
            <a:chExt cx="495300" cy="4953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38100" y="3810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021945"/>
            </a:solidFill>
          </p:spPr>
        </p:sp>
      </p:grpSp>
      <p:grpSp>
        <p:nvGrpSpPr>
          <p:cNvPr name="Group 63" id="63"/>
          <p:cNvGrpSpPr>
            <a:grpSpLocks noChangeAspect="true"/>
          </p:cNvGrpSpPr>
          <p:nvPr/>
        </p:nvGrpSpPr>
        <p:grpSpPr>
          <a:xfrm rot="-10800000">
            <a:off x="3984029" y="7713933"/>
            <a:ext cx="910775" cy="910775"/>
            <a:chOff x="0" y="0"/>
            <a:chExt cx="495300" cy="4953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38100" y="3810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166ABC"/>
            </a:solidFill>
          </p:spPr>
        </p:sp>
      </p:grpSp>
      <p:grpSp>
        <p:nvGrpSpPr>
          <p:cNvPr name="Group 66" id="66"/>
          <p:cNvGrpSpPr>
            <a:grpSpLocks noChangeAspect="true"/>
          </p:cNvGrpSpPr>
          <p:nvPr/>
        </p:nvGrpSpPr>
        <p:grpSpPr>
          <a:xfrm rot="-10800000">
            <a:off x="6270747" y="7713933"/>
            <a:ext cx="910775" cy="910775"/>
            <a:chOff x="0" y="0"/>
            <a:chExt cx="495300" cy="4953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38100" y="3810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34A4DD"/>
            </a:solidFill>
          </p:spPr>
        </p:sp>
      </p:grpSp>
      <p:grpSp>
        <p:nvGrpSpPr>
          <p:cNvPr name="Group 69" id="69"/>
          <p:cNvGrpSpPr>
            <a:grpSpLocks noChangeAspect="true"/>
          </p:cNvGrpSpPr>
          <p:nvPr/>
        </p:nvGrpSpPr>
        <p:grpSpPr>
          <a:xfrm rot="-10800000">
            <a:off x="8571204" y="7713933"/>
            <a:ext cx="910775" cy="910775"/>
            <a:chOff x="0" y="0"/>
            <a:chExt cx="495300" cy="4953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95300" cy="495300"/>
            </a:xfrm>
            <a:custGeom>
              <a:avLst/>
              <a:gdLst/>
              <a:ahLst/>
              <a:cxnLst/>
              <a:rect r="r" b="b" t="t" l="l"/>
              <a:pathLst>
                <a:path h="495300" w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1F2F2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38100" y="3810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8A8E8F"/>
            </a:solidFill>
          </p:spPr>
        </p:sp>
      </p:grpSp>
      <p:sp>
        <p:nvSpPr>
          <p:cNvPr name="Freeform 72" id="72"/>
          <p:cNvSpPr/>
          <p:nvPr/>
        </p:nvSpPr>
        <p:spPr>
          <a:xfrm flipH="false" flipV="false" rot="0">
            <a:off x="6425920" y="7879007"/>
            <a:ext cx="580626" cy="580626"/>
          </a:xfrm>
          <a:custGeom>
            <a:avLst/>
            <a:gdLst/>
            <a:ahLst/>
            <a:cxnLst/>
            <a:rect r="r" b="b" t="t" l="l"/>
            <a:pathLst>
              <a:path h="580626" w="580626">
                <a:moveTo>
                  <a:pt x="0" y="0"/>
                </a:moveTo>
                <a:lnTo>
                  <a:pt x="580626" y="0"/>
                </a:lnTo>
                <a:lnTo>
                  <a:pt x="580626" y="580626"/>
                </a:lnTo>
                <a:lnTo>
                  <a:pt x="0" y="5806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1048787" y="7828892"/>
            <a:ext cx="563541" cy="678346"/>
          </a:xfrm>
          <a:custGeom>
            <a:avLst/>
            <a:gdLst/>
            <a:ahLst/>
            <a:cxnLst/>
            <a:rect r="r" b="b" t="t" l="l"/>
            <a:pathLst>
              <a:path h="678346" w="563541">
                <a:moveTo>
                  <a:pt x="0" y="0"/>
                </a:moveTo>
                <a:lnTo>
                  <a:pt x="563541" y="0"/>
                </a:lnTo>
                <a:lnTo>
                  <a:pt x="563541" y="678346"/>
                </a:lnTo>
                <a:lnTo>
                  <a:pt x="0" y="67834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3302529" y="7905769"/>
            <a:ext cx="606799" cy="582527"/>
          </a:xfrm>
          <a:custGeom>
            <a:avLst/>
            <a:gdLst/>
            <a:ahLst/>
            <a:cxnLst/>
            <a:rect r="r" b="b" t="t" l="l"/>
            <a:pathLst>
              <a:path h="582527" w="606799">
                <a:moveTo>
                  <a:pt x="0" y="0"/>
                </a:moveTo>
                <a:lnTo>
                  <a:pt x="606799" y="0"/>
                </a:lnTo>
                <a:lnTo>
                  <a:pt x="606799" y="582527"/>
                </a:lnTo>
                <a:lnTo>
                  <a:pt x="0" y="58252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919011" y="7980768"/>
            <a:ext cx="521968" cy="402390"/>
          </a:xfrm>
          <a:custGeom>
            <a:avLst/>
            <a:gdLst/>
            <a:ahLst/>
            <a:cxnLst/>
            <a:rect r="r" b="b" t="t" l="l"/>
            <a:pathLst>
              <a:path h="402390" w="521968">
                <a:moveTo>
                  <a:pt x="0" y="0"/>
                </a:moveTo>
                <a:lnTo>
                  <a:pt x="521968" y="0"/>
                </a:lnTo>
                <a:lnTo>
                  <a:pt x="521968" y="402390"/>
                </a:lnTo>
                <a:lnTo>
                  <a:pt x="0" y="402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8713068" y="7846817"/>
            <a:ext cx="645006" cy="645006"/>
          </a:xfrm>
          <a:custGeom>
            <a:avLst/>
            <a:gdLst/>
            <a:ahLst/>
            <a:cxnLst/>
            <a:rect r="r" b="b" t="t" l="l"/>
            <a:pathLst>
              <a:path h="645006" w="645006">
                <a:moveTo>
                  <a:pt x="0" y="0"/>
                </a:moveTo>
                <a:lnTo>
                  <a:pt x="645006" y="0"/>
                </a:lnTo>
                <a:lnTo>
                  <a:pt x="645006" y="645006"/>
                </a:lnTo>
                <a:lnTo>
                  <a:pt x="0" y="64500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4135899" y="7870976"/>
            <a:ext cx="587986" cy="587986"/>
          </a:xfrm>
          <a:custGeom>
            <a:avLst/>
            <a:gdLst/>
            <a:ahLst/>
            <a:cxnLst/>
            <a:rect r="r" b="b" t="t" l="l"/>
            <a:pathLst>
              <a:path h="587986" w="587986">
                <a:moveTo>
                  <a:pt x="0" y="0"/>
                </a:moveTo>
                <a:lnTo>
                  <a:pt x="587986" y="0"/>
                </a:lnTo>
                <a:lnTo>
                  <a:pt x="587986" y="587986"/>
                </a:lnTo>
                <a:lnTo>
                  <a:pt x="0" y="58798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8" id="78"/>
          <p:cNvSpPr txBox="true"/>
          <p:nvPr/>
        </p:nvSpPr>
        <p:spPr>
          <a:xfrm rot="0">
            <a:off x="4617762" y="933856"/>
            <a:ext cx="858140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MOD</a:t>
            </a: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ELS &amp; METHODS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654454" y="2562216"/>
            <a:ext cx="236919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MODELS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7296340" y="1984599"/>
            <a:ext cx="9221744" cy="186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GPT-4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/ GPT-4o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— basel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ine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summa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ization</a:t>
            </a:r>
          </a:p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Bi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Cl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icalBERT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Clinical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Lo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form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er — cl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nical NER &amp; eve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extraction</a:t>
            </a:r>
          </a:p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Sentence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Transformers — medical event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mbedding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Llama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3 /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str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al (f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e-tuned)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—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multi-document, long-context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summarization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3554602" y="4117277"/>
            <a:ext cx="356011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</a:t>
            </a:r>
            <a:r>
              <a:rPr lang="en-US" sz="6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</a:t>
            </a:r>
            <a:r>
              <a:rPr lang="en-US" sz="6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CHNIQUE</a:t>
            </a:r>
            <a:r>
              <a:rPr lang="en-US" sz="6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296340" y="4073019"/>
            <a:ext cx="9130673" cy="7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ompt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engineering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| Few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sh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exa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mples |</a:t>
            </a:r>
          </a:p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Mu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i-step summarization | Extraction → Str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ing →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inal Summary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3370213" y="5287866"/>
            <a:ext cx="3653435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PROJECT FOCUS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296340" y="5488268"/>
            <a:ext cx="5920878" cy="7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~50–60%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eation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&amp; g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ration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</a:p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~40–50%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m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el ru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s,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ba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lu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ation.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169154" y="7234790"/>
            <a:ext cx="2700533" cy="35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cleaning &amp;</a:t>
            </a: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ordering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753528" y="8708586"/>
            <a:ext cx="1833639" cy="23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b="true" sz="1407" spc="3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REFINEMENT 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5040246" y="8708586"/>
            <a:ext cx="1833639" cy="23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b="true" sz="1407" spc="3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OUTPUT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89354" y="8726460"/>
            <a:ext cx="2139769" cy="23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b="true" sz="1407" spc="3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DOCUMENT INTAKE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3625693" y="8708586"/>
            <a:ext cx="1833639" cy="23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b="true" sz="1407" spc="3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PREPROCESSING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868927" y="8690711"/>
            <a:ext cx="1833639" cy="48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b="true" sz="1407" spc="3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INFORMATION EXTRACTION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8169384" y="8690711"/>
            <a:ext cx="1833639" cy="48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0"/>
              </a:lnSpc>
            </a:pPr>
            <a:r>
              <a:rPr lang="en-US" b="true" sz="1407" spc="3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EMBEDDING &amp; CLUSTERING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13106" y="9388200"/>
            <a:ext cx="2700533" cy="35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multi-sou</a:t>
            </a: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rce input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353913" y="9388200"/>
            <a:ext cx="2700533" cy="71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diagnos</a:t>
            </a: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es, treatments, dates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7776766" y="6882365"/>
            <a:ext cx="2700533" cy="71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group simila</a:t>
            </a: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 medical events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0117961" y="9388200"/>
            <a:ext cx="2700533" cy="35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multi-do</a:t>
            </a: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 summary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4558767" y="9388200"/>
            <a:ext cx="2700533" cy="710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coh</a:t>
            </a: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erent journey summary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2197151" y="7234790"/>
            <a:ext cx="2700533" cy="35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consist</a:t>
            </a:r>
            <a:r>
              <a:rPr lang="en-US" sz="2030" spc="-4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ency check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03" r="0" b="-370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46594" y="5460735"/>
            <a:ext cx="3228547" cy="1331140"/>
            <a:chOff x="0" y="0"/>
            <a:chExt cx="795213" cy="3278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5213" cy="327869"/>
            </a:xfrm>
            <a:custGeom>
              <a:avLst/>
              <a:gdLst/>
              <a:ahLst/>
              <a:cxnLst/>
              <a:rect r="r" b="b" t="t" l="l"/>
              <a:pathLst>
                <a:path h="327869" w="795213">
                  <a:moveTo>
                    <a:pt x="163934" y="0"/>
                  </a:moveTo>
                  <a:lnTo>
                    <a:pt x="631279" y="0"/>
                  </a:lnTo>
                  <a:cubicBezTo>
                    <a:pt x="674757" y="0"/>
                    <a:pt x="716454" y="17272"/>
                    <a:pt x="747198" y="48015"/>
                  </a:cubicBezTo>
                  <a:cubicBezTo>
                    <a:pt x="777942" y="78759"/>
                    <a:pt x="795213" y="120456"/>
                    <a:pt x="795213" y="163934"/>
                  </a:cubicBezTo>
                  <a:lnTo>
                    <a:pt x="795213" y="163934"/>
                  </a:lnTo>
                  <a:cubicBezTo>
                    <a:pt x="795213" y="254473"/>
                    <a:pt x="721817" y="327869"/>
                    <a:pt x="631279" y="327869"/>
                  </a:cubicBezTo>
                  <a:lnTo>
                    <a:pt x="163934" y="327869"/>
                  </a:lnTo>
                  <a:cubicBezTo>
                    <a:pt x="73396" y="327869"/>
                    <a:pt x="0" y="254473"/>
                    <a:pt x="0" y="163934"/>
                  </a:cubicBezTo>
                  <a:lnTo>
                    <a:pt x="0" y="163934"/>
                  </a:lnTo>
                  <a:cubicBezTo>
                    <a:pt x="0" y="73396"/>
                    <a:pt x="73396" y="0"/>
                    <a:pt x="16393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795213" cy="35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46594" y="3064208"/>
            <a:ext cx="2381250" cy="1017288"/>
            <a:chOff x="0" y="0"/>
            <a:chExt cx="627160" cy="2679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846594" y="4262471"/>
            <a:ext cx="2381250" cy="1017288"/>
            <a:chOff x="0" y="0"/>
            <a:chExt cx="627160" cy="2679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846594" y="6972849"/>
            <a:ext cx="2381250" cy="1017288"/>
            <a:chOff x="0" y="0"/>
            <a:chExt cx="627160" cy="267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52990" y="3223197"/>
            <a:ext cx="629379" cy="699310"/>
          </a:xfrm>
          <a:custGeom>
            <a:avLst/>
            <a:gdLst/>
            <a:ahLst/>
            <a:cxnLst/>
            <a:rect r="r" b="b" t="t" l="l"/>
            <a:pathLst>
              <a:path h="699310" w="629379">
                <a:moveTo>
                  <a:pt x="0" y="0"/>
                </a:moveTo>
                <a:lnTo>
                  <a:pt x="629379" y="0"/>
                </a:lnTo>
                <a:lnTo>
                  <a:pt x="629379" y="699310"/>
                </a:lnTo>
                <a:lnTo>
                  <a:pt x="0" y="699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-846594" y="1795796"/>
            <a:ext cx="2381250" cy="1087437"/>
            <a:chOff x="0" y="0"/>
            <a:chExt cx="586518" cy="2678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6518" cy="267843"/>
            </a:xfrm>
            <a:custGeom>
              <a:avLst/>
              <a:gdLst/>
              <a:ahLst/>
              <a:cxnLst/>
              <a:rect r="r" b="b" t="t" l="l"/>
              <a:pathLst>
                <a:path h="267843" w="586518">
                  <a:moveTo>
                    <a:pt x="133922" y="0"/>
                  </a:moveTo>
                  <a:lnTo>
                    <a:pt x="452597" y="0"/>
                  </a:lnTo>
                  <a:cubicBezTo>
                    <a:pt x="526559" y="0"/>
                    <a:pt x="586518" y="59959"/>
                    <a:pt x="586518" y="133922"/>
                  </a:cubicBezTo>
                  <a:lnTo>
                    <a:pt x="586518" y="133922"/>
                  </a:lnTo>
                  <a:cubicBezTo>
                    <a:pt x="586518" y="207885"/>
                    <a:pt x="526559" y="267843"/>
                    <a:pt x="452597" y="267843"/>
                  </a:cubicBezTo>
                  <a:lnTo>
                    <a:pt x="133922" y="267843"/>
                  </a:lnTo>
                  <a:cubicBezTo>
                    <a:pt x="59959" y="267843"/>
                    <a:pt x="0" y="207885"/>
                    <a:pt x="0" y="133922"/>
                  </a:cubicBezTo>
                  <a:lnTo>
                    <a:pt x="0" y="133922"/>
                  </a:lnTo>
                  <a:cubicBezTo>
                    <a:pt x="0" y="59959"/>
                    <a:pt x="59959" y="0"/>
                    <a:pt x="133922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586518" cy="296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50734" y="2022569"/>
            <a:ext cx="633892" cy="633892"/>
          </a:xfrm>
          <a:custGeom>
            <a:avLst/>
            <a:gdLst/>
            <a:ahLst/>
            <a:cxnLst/>
            <a:rect r="r" b="b" t="t" l="l"/>
            <a:pathLst>
              <a:path h="633892" w="633892">
                <a:moveTo>
                  <a:pt x="0" y="0"/>
                </a:moveTo>
                <a:lnTo>
                  <a:pt x="633892" y="0"/>
                </a:lnTo>
                <a:lnTo>
                  <a:pt x="633892" y="633891"/>
                </a:lnTo>
                <a:lnTo>
                  <a:pt x="0" y="633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52990" y="4424396"/>
            <a:ext cx="683612" cy="701467"/>
          </a:xfrm>
          <a:custGeom>
            <a:avLst/>
            <a:gdLst/>
            <a:ahLst/>
            <a:cxnLst/>
            <a:rect r="r" b="b" t="t" l="l"/>
            <a:pathLst>
              <a:path h="701467" w="683612">
                <a:moveTo>
                  <a:pt x="0" y="0"/>
                </a:moveTo>
                <a:lnTo>
                  <a:pt x="683612" y="0"/>
                </a:lnTo>
                <a:lnTo>
                  <a:pt x="683612" y="701468"/>
                </a:lnTo>
                <a:lnTo>
                  <a:pt x="0" y="7014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570174" y="3944292"/>
            <a:ext cx="2042361" cy="2261996"/>
          </a:xfrm>
          <a:custGeom>
            <a:avLst/>
            <a:gdLst/>
            <a:ahLst/>
            <a:cxnLst/>
            <a:rect r="r" b="b" t="t" l="l"/>
            <a:pathLst>
              <a:path h="2261996" w="2042361">
                <a:moveTo>
                  <a:pt x="0" y="0"/>
                </a:moveTo>
                <a:lnTo>
                  <a:pt x="2042361" y="0"/>
                </a:lnTo>
                <a:lnTo>
                  <a:pt x="2042361" y="2261996"/>
                </a:lnTo>
                <a:lnTo>
                  <a:pt x="0" y="22619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67680" y="5646580"/>
            <a:ext cx="1012135" cy="959449"/>
          </a:xfrm>
          <a:custGeom>
            <a:avLst/>
            <a:gdLst/>
            <a:ahLst/>
            <a:cxnLst/>
            <a:rect r="r" b="b" t="t" l="l"/>
            <a:pathLst>
              <a:path h="959449" w="1012135">
                <a:moveTo>
                  <a:pt x="0" y="0"/>
                </a:moveTo>
                <a:lnTo>
                  <a:pt x="1012135" y="0"/>
                </a:lnTo>
                <a:lnTo>
                  <a:pt x="1012135" y="959449"/>
                </a:lnTo>
                <a:lnTo>
                  <a:pt x="0" y="9594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783445" y="929021"/>
            <a:ext cx="1272111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DATA SP</a:t>
            </a: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ECIFICATION &amp; GENERATION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14237" y="2476909"/>
            <a:ext cx="8894925" cy="111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Longitudinal clinical d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ocument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o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 a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sing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time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lin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e,</a:t>
            </a:r>
          </a:p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cl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uding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vis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note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s, doc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–p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me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ssa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es,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s,</a:t>
            </a:r>
          </a:p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b/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ports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mix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 for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ats (fre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ext + structured)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21272" y="7137082"/>
            <a:ext cx="752475" cy="752475"/>
          </a:xfrm>
          <a:custGeom>
            <a:avLst/>
            <a:gdLst/>
            <a:ahLst/>
            <a:cxnLst/>
            <a:rect r="r" b="b" t="t" l="l"/>
            <a:pathLst>
              <a:path h="752475" w="752475">
                <a:moveTo>
                  <a:pt x="0" y="0"/>
                </a:moveTo>
                <a:lnTo>
                  <a:pt x="752475" y="0"/>
                </a:lnTo>
                <a:lnTo>
                  <a:pt x="752475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783445" y="6147124"/>
            <a:ext cx="431527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DATA SO</a:t>
            </a:r>
            <a:r>
              <a:rPr lang="en-US" sz="6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U</a:t>
            </a:r>
            <a:r>
              <a:rPr lang="en-US" sz="6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RC</a:t>
            </a:r>
            <a:r>
              <a:rPr lang="en-US" sz="6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97227" y="6050362"/>
            <a:ext cx="7029694" cy="7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MIMIC-III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|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MIMIC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-IV | i2b2</a:t>
            </a:r>
          </a:p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Synthe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ic patient timelines generated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us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ing GPT-4o.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83445" y="2416508"/>
            <a:ext cx="4611225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DATA REQ</a:t>
            </a:r>
            <a:r>
              <a:rPr lang="en-US" sz="6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UIR</a:t>
            </a:r>
            <a:r>
              <a:rPr lang="en-US" sz="6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EM</a:t>
            </a:r>
            <a:r>
              <a:rPr lang="en-US" sz="6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80247" y="7236225"/>
            <a:ext cx="9360643" cy="111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Creation of synthetic multi-visit patient histories, </a:t>
            </a:r>
            <a:r>
              <a:rPr lang="en-US" sz="2130" spc="-42" strike="noStrike" u="none">
                <a:solidFill>
                  <a:srgbClr val="FFD166"/>
                </a:solidFill>
                <a:latin typeface="Poppins"/>
                <a:ea typeface="Poppins"/>
                <a:cs typeface="Poppins"/>
                <a:sym typeface="Poppins"/>
              </a:rPr>
              <a:t>including diagnoses, treatments, medications, dates, and lab/imaging events.</a:t>
            </a:r>
          </a:p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Clinical event extraction used to produce structured labels.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360074" y="7175824"/>
            <a:ext cx="3801959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DATA G</a:t>
            </a:r>
            <a:r>
              <a:rPr lang="en-US" sz="6000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ENERATION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43960" y="8593765"/>
            <a:ext cx="7971234" cy="3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3"/>
              </a:lnSpc>
              <a:spcBef>
                <a:spcPct val="0"/>
              </a:spcBef>
            </a:pPr>
            <a:r>
              <a:rPr lang="en-US" b="true" sz="2130" spc="-42" strike="noStrike" u="none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no full manual labeling → self-supervised + synthetic labels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03" r="0" b="-370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33107" y="2661493"/>
            <a:ext cx="7563412" cy="37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1"/>
              </a:lnSpc>
            </a:pPr>
            <a:r>
              <a:rPr lang="en-US" sz="2129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Summa</a:t>
            </a:r>
            <a:r>
              <a:rPr lang="en-US" sz="2129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129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129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29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129" spc="-4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ength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17460" y="1708552"/>
            <a:ext cx="2565767" cy="97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02"/>
              </a:lnSpc>
              <a:spcBef>
                <a:spcPct val="0"/>
              </a:spcBef>
            </a:pPr>
            <a:r>
              <a:rPr lang="en-US" b="true" sz="5644">
                <a:solidFill>
                  <a:srgbClr val="FFD1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3–7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078385" y="1858763"/>
            <a:ext cx="967594" cy="1027368"/>
          </a:xfrm>
          <a:custGeom>
            <a:avLst/>
            <a:gdLst/>
            <a:ahLst/>
            <a:cxnLst/>
            <a:rect r="r" b="b" t="t" l="l"/>
            <a:pathLst>
              <a:path h="1027368" w="967594">
                <a:moveTo>
                  <a:pt x="0" y="0"/>
                </a:moveTo>
                <a:lnTo>
                  <a:pt x="967594" y="0"/>
                </a:lnTo>
                <a:lnTo>
                  <a:pt x="967594" y="1027368"/>
                </a:lnTo>
                <a:lnTo>
                  <a:pt x="0" y="1027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846594" y="6658998"/>
            <a:ext cx="3228547" cy="1331140"/>
            <a:chOff x="0" y="0"/>
            <a:chExt cx="795213" cy="3278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5213" cy="327869"/>
            </a:xfrm>
            <a:custGeom>
              <a:avLst/>
              <a:gdLst/>
              <a:ahLst/>
              <a:cxnLst/>
              <a:rect r="r" b="b" t="t" l="l"/>
              <a:pathLst>
                <a:path h="327869" w="795213">
                  <a:moveTo>
                    <a:pt x="163934" y="0"/>
                  </a:moveTo>
                  <a:lnTo>
                    <a:pt x="631279" y="0"/>
                  </a:lnTo>
                  <a:cubicBezTo>
                    <a:pt x="674757" y="0"/>
                    <a:pt x="716454" y="17272"/>
                    <a:pt x="747198" y="48015"/>
                  </a:cubicBezTo>
                  <a:cubicBezTo>
                    <a:pt x="777942" y="78759"/>
                    <a:pt x="795213" y="120456"/>
                    <a:pt x="795213" y="163934"/>
                  </a:cubicBezTo>
                  <a:lnTo>
                    <a:pt x="795213" y="163934"/>
                  </a:lnTo>
                  <a:cubicBezTo>
                    <a:pt x="795213" y="254473"/>
                    <a:pt x="721817" y="327869"/>
                    <a:pt x="631279" y="327869"/>
                  </a:cubicBezTo>
                  <a:lnTo>
                    <a:pt x="163934" y="327869"/>
                  </a:lnTo>
                  <a:cubicBezTo>
                    <a:pt x="73396" y="327869"/>
                    <a:pt x="0" y="254473"/>
                    <a:pt x="0" y="163934"/>
                  </a:cubicBezTo>
                  <a:lnTo>
                    <a:pt x="0" y="163934"/>
                  </a:lnTo>
                  <a:cubicBezTo>
                    <a:pt x="0" y="73396"/>
                    <a:pt x="73396" y="0"/>
                    <a:pt x="16393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95213" cy="35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846594" y="3064208"/>
            <a:ext cx="2381250" cy="1017288"/>
            <a:chOff x="0" y="0"/>
            <a:chExt cx="627160" cy="2679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846594" y="4262471"/>
            <a:ext cx="2381250" cy="1017288"/>
            <a:chOff x="0" y="0"/>
            <a:chExt cx="627160" cy="267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846594" y="5460735"/>
            <a:ext cx="2381250" cy="1017288"/>
            <a:chOff x="0" y="0"/>
            <a:chExt cx="627160" cy="267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846594" y="1795796"/>
            <a:ext cx="2381250" cy="1087437"/>
            <a:chOff x="0" y="0"/>
            <a:chExt cx="586518" cy="2678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6518" cy="267843"/>
            </a:xfrm>
            <a:custGeom>
              <a:avLst/>
              <a:gdLst/>
              <a:ahLst/>
              <a:cxnLst/>
              <a:rect r="r" b="b" t="t" l="l"/>
              <a:pathLst>
                <a:path h="267843" w="586518">
                  <a:moveTo>
                    <a:pt x="133922" y="0"/>
                  </a:moveTo>
                  <a:lnTo>
                    <a:pt x="452597" y="0"/>
                  </a:lnTo>
                  <a:cubicBezTo>
                    <a:pt x="526559" y="0"/>
                    <a:pt x="586518" y="59959"/>
                    <a:pt x="586518" y="133922"/>
                  </a:cubicBezTo>
                  <a:lnTo>
                    <a:pt x="586518" y="133922"/>
                  </a:lnTo>
                  <a:cubicBezTo>
                    <a:pt x="586518" y="207885"/>
                    <a:pt x="526559" y="267843"/>
                    <a:pt x="452597" y="267843"/>
                  </a:cubicBezTo>
                  <a:lnTo>
                    <a:pt x="133922" y="267843"/>
                  </a:lnTo>
                  <a:cubicBezTo>
                    <a:pt x="59959" y="267843"/>
                    <a:pt x="0" y="207885"/>
                    <a:pt x="0" y="133922"/>
                  </a:cubicBezTo>
                  <a:lnTo>
                    <a:pt x="0" y="133922"/>
                  </a:lnTo>
                  <a:cubicBezTo>
                    <a:pt x="0" y="59959"/>
                    <a:pt x="59959" y="0"/>
                    <a:pt x="133922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86518" cy="2964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28700" y="6824505"/>
            <a:ext cx="1000125" cy="1000125"/>
          </a:xfrm>
          <a:custGeom>
            <a:avLst/>
            <a:gdLst/>
            <a:ahLst/>
            <a:cxnLst/>
            <a:rect r="r" b="b" t="t" l="l"/>
            <a:pathLst>
              <a:path h="1000125" w="1000125">
                <a:moveTo>
                  <a:pt x="0" y="0"/>
                </a:moveTo>
                <a:lnTo>
                  <a:pt x="1000125" y="0"/>
                </a:lnTo>
                <a:lnTo>
                  <a:pt x="100012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378622" y="690563"/>
            <a:ext cx="7530756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ME</a:t>
            </a:r>
            <a:r>
              <a:rPr lang="en-US" sz="6999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TRICS &amp; KPIS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52222" y="7036645"/>
            <a:ext cx="2565767" cy="7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Human Readability Score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32795" y="5949721"/>
            <a:ext cx="287599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6299"/>
              </a:lnSpc>
              <a:spcBef>
                <a:spcPct val="0"/>
              </a:spcBef>
            </a:pPr>
            <a:r>
              <a:rPr lang="ar-EG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  <a:rtl val="true"/>
              </a:rPr>
              <a:t>≥ </a:t>
            </a:r>
            <a:r>
              <a:rPr lang="en-US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4/5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02377" y="6999676"/>
            <a:ext cx="2861460" cy="3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BERTScore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20839" y="5949721"/>
            <a:ext cx="287599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6299"/>
              </a:lnSpc>
              <a:spcBef>
                <a:spcPct val="0"/>
              </a:spcBef>
            </a:pPr>
            <a:r>
              <a:rPr lang="ar-EG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  <a:rtl val="true"/>
              </a:rPr>
              <a:t>≥ </a:t>
            </a:r>
            <a:r>
              <a:rPr lang="en-US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0.85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24802" y="4881237"/>
            <a:ext cx="3079340" cy="3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Chronological Order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56389" y="4062965"/>
            <a:ext cx="2805659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6299"/>
              </a:lnSpc>
              <a:spcBef>
                <a:spcPct val="0"/>
              </a:spcBef>
            </a:pPr>
            <a:r>
              <a:rPr lang="ar-EG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  <a:rtl val="true"/>
              </a:rPr>
              <a:t>≥ </a:t>
            </a:r>
            <a:r>
              <a:rPr lang="en-US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90%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73250" y="4893004"/>
            <a:ext cx="2923712" cy="3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ROUGE-L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21262" y="4062965"/>
            <a:ext cx="2805659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6299"/>
              </a:lnSpc>
              <a:spcBef>
                <a:spcPct val="0"/>
              </a:spcBef>
            </a:pPr>
            <a:r>
              <a:rPr lang="ar-EG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  <a:rtl val="true"/>
              </a:rPr>
              <a:t>≥ </a:t>
            </a:r>
            <a:r>
              <a:rPr lang="en-US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0.35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71251" y="4893004"/>
            <a:ext cx="2892586" cy="3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Key 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vent</a:t>
            </a: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 coverage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144301" y="4062965"/>
            <a:ext cx="3172716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6299"/>
              </a:lnSpc>
              <a:spcBef>
                <a:spcPct val="0"/>
              </a:spcBef>
            </a:pPr>
            <a:r>
              <a:rPr lang="ar-EG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  <a:rtl val="true"/>
              </a:rPr>
              <a:t>≥ </a:t>
            </a:r>
            <a:r>
              <a:rPr lang="en-US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80%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886844" y="6999676"/>
            <a:ext cx="2565767" cy="3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3"/>
              </a:lnSpc>
              <a:spcBef>
                <a:spcPct val="0"/>
              </a:spcBef>
            </a:pPr>
            <a:r>
              <a:rPr lang="en-US" sz="2130" spc="-42" strike="noStrike" u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Factual Accuracy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946462" y="5896450"/>
            <a:ext cx="287599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6299"/>
              </a:lnSpc>
              <a:spcBef>
                <a:spcPct val="0"/>
              </a:spcBef>
            </a:pPr>
            <a:r>
              <a:rPr lang="ar-EG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  <a:rtl val="true"/>
              </a:rPr>
              <a:t>≥ </a:t>
            </a:r>
            <a:r>
              <a:rPr lang="en-US" sz="6999" strike="noStrike" u="none">
                <a:solidFill>
                  <a:srgbClr val="FFFFFF"/>
                </a:solidFill>
                <a:latin typeface="Norwester"/>
                <a:ea typeface="Norwester"/>
                <a:cs typeface="Norwester"/>
                <a:sym typeface="Norwester"/>
              </a:rPr>
              <a:t>95%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14813" y="2244637"/>
            <a:ext cx="1736828" cy="35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1"/>
              </a:lnSpc>
              <a:spcBef>
                <a:spcPct val="0"/>
              </a:spcBef>
            </a:pPr>
            <a:r>
              <a:rPr lang="en-US" b="true" sz="2129" strike="noStrike" u="none">
                <a:solidFill>
                  <a:srgbClr val="FFD1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sentences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38109" y="3283666"/>
            <a:ext cx="4205585" cy="3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83"/>
              </a:lnSpc>
              <a:spcBef>
                <a:spcPct val="0"/>
              </a:spcBef>
            </a:pPr>
            <a:r>
              <a:rPr lang="en-US" b="true" sz="2130" spc="-42" strike="noStrike" u="none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Minimum Performance Targets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452990" y="3223197"/>
            <a:ext cx="629379" cy="699310"/>
          </a:xfrm>
          <a:custGeom>
            <a:avLst/>
            <a:gdLst/>
            <a:ahLst/>
            <a:cxnLst/>
            <a:rect r="r" b="b" t="t" l="l"/>
            <a:pathLst>
              <a:path h="699310" w="629379">
                <a:moveTo>
                  <a:pt x="0" y="0"/>
                </a:moveTo>
                <a:lnTo>
                  <a:pt x="629379" y="0"/>
                </a:lnTo>
                <a:lnTo>
                  <a:pt x="629379" y="699310"/>
                </a:lnTo>
                <a:lnTo>
                  <a:pt x="0" y="6993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452990" y="4424396"/>
            <a:ext cx="683612" cy="701467"/>
          </a:xfrm>
          <a:custGeom>
            <a:avLst/>
            <a:gdLst/>
            <a:ahLst/>
            <a:cxnLst/>
            <a:rect r="r" b="b" t="t" l="l"/>
            <a:pathLst>
              <a:path h="701467" w="683612">
                <a:moveTo>
                  <a:pt x="0" y="0"/>
                </a:moveTo>
                <a:lnTo>
                  <a:pt x="683612" y="0"/>
                </a:lnTo>
                <a:lnTo>
                  <a:pt x="683612" y="701468"/>
                </a:lnTo>
                <a:lnTo>
                  <a:pt x="0" y="7014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577617" y="5660760"/>
            <a:ext cx="646600" cy="612942"/>
          </a:xfrm>
          <a:custGeom>
            <a:avLst/>
            <a:gdLst/>
            <a:ahLst/>
            <a:cxnLst/>
            <a:rect r="r" b="b" t="t" l="l"/>
            <a:pathLst>
              <a:path h="612942" w="646600">
                <a:moveTo>
                  <a:pt x="0" y="0"/>
                </a:moveTo>
                <a:lnTo>
                  <a:pt x="646600" y="0"/>
                </a:lnTo>
                <a:lnTo>
                  <a:pt x="646600" y="612941"/>
                </a:lnTo>
                <a:lnTo>
                  <a:pt x="0" y="6129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50734" y="2027404"/>
            <a:ext cx="633892" cy="633892"/>
          </a:xfrm>
          <a:custGeom>
            <a:avLst/>
            <a:gdLst/>
            <a:ahLst/>
            <a:cxnLst/>
            <a:rect r="r" b="b" t="t" l="l"/>
            <a:pathLst>
              <a:path h="633892" w="633892">
                <a:moveTo>
                  <a:pt x="0" y="0"/>
                </a:moveTo>
                <a:lnTo>
                  <a:pt x="633892" y="0"/>
                </a:lnTo>
                <a:lnTo>
                  <a:pt x="633892" y="633892"/>
                </a:lnTo>
                <a:lnTo>
                  <a:pt x="0" y="6338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3479860" y="8020743"/>
            <a:ext cx="11669906" cy="106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3"/>
              </a:lnSpc>
              <a:spcBef>
                <a:spcPct val="0"/>
              </a:spcBef>
            </a:pPr>
            <a:r>
              <a:rPr lang="en-US" b="true" sz="2030" spc="-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Measu</a:t>
            </a:r>
            <a:r>
              <a:rPr lang="en-US" b="true" sz="2030" spc="-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rement Protocol: </a:t>
            </a:r>
            <a:r>
              <a:rPr lang="en-US" sz="203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Comparison to structured synthetic ground truth using ROUGE-L, BERTScore, coverage, chronology, and factual accuracy.</a:t>
            </a:r>
          </a:p>
          <a:p>
            <a:pPr algn="l">
              <a:lnSpc>
                <a:spcPts val="2843"/>
              </a:lnSpc>
              <a:spcBef>
                <a:spcPct val="0"/>
              </a:spcBef>
            </a:pPr>
            <a:r>
              <a:rPr lang="en-US" b="true" sz="2030" spc="-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Ground Truth: </a:t>
            </a:r>
            <a:r>
              <a:rPr lang="en-US" sz="2030" spc="-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Structured summaries created during synthetic data generation.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DAG5hNUM9a8</dc:identifier>
  <dcterms:modified xsi:type="dcterms:W3CDTF">2011-08-01T06:04:30Z</dcterms:modified>
  <cp:revision>1</cp:revision>
  <dc:title>NLP_proj Presentation</dc:title>
</cp:coreProperties>
</file>